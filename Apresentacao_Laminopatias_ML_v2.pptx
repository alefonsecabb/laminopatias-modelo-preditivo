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F2C45-27CC-4659-9A77-643B37F90D74}" v="13" dt="2026-05-22T12:58:28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02" y="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da Fonseca" userId="41e5709fee179dac" providerId="LiveId" clId="{5096293C-1326-4AB0-911E-3DB9CC02B5DF}"/>
    <pc:docChg chg="custSel modSld">
      <pc:chgData name="Alexandre da Fonseca" userId="41e5709fee179dac" providerId="LiveId" clId="{5096293C-1326-4AB0-911E-3DB9CC02B5DF}" dt="2026-05-22T15:33:59.443" v="111" actId="478"/>
      <pc:docMkLst>
        <pc:docMk/>
      </pc:docMkLst>
      <pc:sldChg chg="addSp modSp mod">
        <pc:chgData name="Alexandre da Fonseca" userId="41e5709fee179dac" providerId="LiveId" clId="{5096293C-1326-4AB0-911E-3DB9CC02B5DF}" dt="2026-05-22T12:34:56.342" v="94"/>
        <pc:sldMkLst>
          <pc:docMk/>
          <pc:sldMk cId="0" sldId="256"/>
        </pc:sldMkLst>
        <pc:spChg chg="mod">
          <ac:chgData name="Alexandre da Fonseca" userId="41e5709fee179dac" providerId="LiveId" clId="{5096293C-1326-4AB0-911E-3DB9CC02B5DF}" dt="2026-05-22T11:14:10.775" v="4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exandre da Fonseca" userId="41e5709fee179dac" providerId="LiveId" clId="{5096293C-1326-4AB0-911E-3DB9CC02B5DF}" dt="2026-05-22T11:14:30.192" v="91" actId="6549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Alexandre da Fonseca" userId="41e5709fee179dac" providerId="LiveId" clId="{5096293C-1326-4AB0-911E-3DB9CC02B5DF}" dt="2026-05-22T12:34:56.342" v="94"/>
          <ac:picMkLst>
            <pc:docMk/>
            <pc:sldMk cId="0" sldId="256"/>
            <ac:picMk id="11" creationId="{EBF10A9A-5D29-1854-D562-EDA477515F15}"/>
          </ac:picMkLst>
        </pc:picChg>
      </pc:sldChg>
      <pc:sldChg chg="addSp delSp modSp mod delAnim">
        <pc:chgData name="Alexandre da Fonseca" userId="41e5709fee179dac" providerId="LiveId" clId="{5096293C-1326-4AB0-911E-3DB9CC02B5DF}" dt="2026-05-22T15:33:49.639" v="109" actId="478"/>
        <pc:sldMkLst>
          <pc:docMk/>
          <pc:sldMk cId="0" sldId="257"/>
        </pc:sldMkLst>
        <pc:picChg chg="add del mod">
          <ac:chgData name="Alexandre da Fonseca" userId="41e5709fee179dac" providerId="LiveId" clId="{5096293C-1326-4AB0-911E-3DB9CC02B5DF}" dt="2026-05-22T15:33:49.639" v="109" actId="478"/>
          <ac:picMkLst>
            <pc:docMk/>
            <pc:sldMk cId="0" sldId="257"/>
            <ac:picMk id="17" creationId="{1E730261-E612-E422-3BE5-9B3E76AE71F7}"/>
          </ac:picMkLst>
        </pc:picChg>
      </pc:sldChg>
      <pc:sldChg chg="addSp delSp modSp mod delAnim">
        <pc:chgData name="Alexandre da Fonseca" userId="41e5709fee179dac" providerId="LiveId" clId="{5096293C-1326-4AB0-911E-3DB9CC02B5DF}" dt="2026-05-22T15:33:59.443" v="111" actId="478"/>
        <pc:sldMkLst>
          <pc:docMk/>
          <pc:sldMk cId="0" sldId="258"/>
        </pc:sldMkLst>
        <pc:picChg chg="add del mod">
          <ac:chgData name="Alexandre da Fonseca" userId="41e5709fee179dac" providerId="LiveId" clId="{5096293C-1326-4AB0-911E-3DB9CC02B5DF}" dt="2026-05-22T15:33:59.443" v="111" actId="478"/>
          <ac:picMkLst>
            <pc:docMk/>
            <pc:sldMk cId="0" sldId="258"/>
            <ac:picMk id="10" creationId="{279F63CE-5EDA-FF2A-55FC-F00E3C364567}"/>
          </ac:picMkLst>
        </pc:picChg>
      </pc:sldChg>
      <pc:sldChg chg="addSp delSp modSp mod delAnim">
        <pc:chgData name="Alexandre da Fonseca" userId="41e5709fee179dac" providerId="LiveId" clId="{5096293C-1326-4AB0-911E-3DB9CC02B5DF}" dt="2026-05-22T15:33:56.525" v="110" actId="478"/>
        <pc:sldMkLst>
          <pc:docMk/>
          <pc:sldMk cId="0" sldId="259"/>
        </pc:sldMkLst>
        <pc:picChg chg="add del mod">
          <ac:chgData name="Alexandre da Fonseca" userId="41e5709fee179dac" providerId="LiveId" clId="{5096293C-1326-4AB0-911E-3DB9CC02B5DF}" dt="2026-05-22T15:33:56.525" v="110" actId="478"/>
          <ac:picMkLst>
            <pc:docMk/>
            <pc:sldMk cId="0" sldId="259"/>
            <ac:picMk id="18" creationId="{150ED1C7-C8F9-79BC-BF83-0654F698F67E}"/>
          </ac:picMkLst>
        </pc:picChg>
      </pc:sldChg>
      <pc:sldChg chg="addSp modSp">
        <pc:chgData name="Alexandre da Fonseca" userId="41e5709fee179dac" providerId="LiveId" clId="{5096293C-1326-4AB0-911E-3DB9CC02B5DF}" dt="2026-05-22T12:45:15.593" v="98"/>
        <pc:sldMkLst>
          <pc:docMk/>
          <pc:sldMk cId="0" sldId="260"/>
        </pc:sldMkLst>
        <pc:picChg chg="add mod">
          <ac:chgData name="Alexandre da Fonseca" userId="41e5709fee179dac" providerId="LiveId" clId="{5096293C-1326-4AB0-911E-3DB9CC02B5DF}" dt="2026-05-22T12:45:15.593" v="98"/>
          <ac:picMkLst>
            <pc:docMk/>
            <pc:sldMk cId="0" sldId="260"/>
            <ac:picMk id="16" creationId="{080B6070-B4E9-AD9C-DC1F-020BD1555146}"/>
          </ac:picMkLst>
        </pc:picChg>
      </pc:sldChg>
      <pc:sldChg chg="addSp modSp">
        <pc:chgData name="Alexandre da Fonseca" userId="41e5709fee179dac" providerId="LiveId" clId="{5096293C-1326-4AB0-911E-3DB9CC02B5DF}" dt="2026-05-22T12:46:33.204" v="99"/>
        <pc:sldMkLst>
          <pc:docMk/>
          <pc:sldMk cId="0" sldId="261"/>
        </pc:sldMkLst>
        <pc:picChg chg="add mod">
          <ac:chgData name="Alexandre da Fonseca" userId="41e5709fee179dac" providerId="LiveId" clId="{5096293C-1326-4AB0-911E-3DB9CC02B5DF}" dt="2026-05-22T12:46:33.204" v="99"/>
          <ac:picMkLst>
            <pc:docMk/>
            <pc:sldMk cId="0" sldId="261"/>
            <ac:picMk id="7" creationId="{72DD42C5-5AB8-60AF-0C85-09F379BB1C34}"/>
          </ac:picMkLst>
        </pc:picChg>
      </pc:sldChg>
      <pc:sldChg chg="addSp modSp">
        <pc:chgData name="Alexandre da Fonseca" userId="41e5709fee179dac" providerId="LiveId" clId="{5096293C-1326-4AB0-911E-3DB9CC02B5DF}" dt="2026-05-22T12:48:30.412" v="100"/>
        <pc:sldMkLst>
          <pc:docMk/>
          <pc:sldMk cId="0" sldId="262"/>
        </pc:sldMkLst>
        <pc:picChg chg="add mod">
          <ac:chgData name="Alexandre da Fonseca" userId="41e5709fee179dac" providerId="LiveId" clId="{5096293C-1326-4AB0-911E-3DB9CC02B5DF}" dt="2026-05-22T12:48:30.412" v="100"/>
          <ac:picMkLst>
            <pc:docMk/>
            <pc:sldMk cId="0" sldId="262"/>
            <ac:picMk id="17" creationId="{18A35CEB-6B2B-8B0A-0138-FA7C893EB225}"/>
          </ac:picMkLst>
        </pc:picChg>
      </pc:sldChg>
      <pc:sldChg chg="addSp modSp">
        <pc:chgData name="Alexandre da Fonseca" userId="41e5709fee179dac" providerId="LiveId" clId="{5096293C-1326-4AB0-911E-3DB9CC02B5DF}" dt="2026-05-22T12:50:59.043" v="101"/>
        <pc:sldMkLst>
          <pc:docMk/>
          <pc:sldMk cId="0" sldId="263"/>
        </pc:sldMkLst>
        <pc:picChg chg="add mod">
          <ac:chgData name="Alexandre da Fonseca" userId="41e5709fee179dac" providerId="LiveId" clId="{5096293C-1326-4AB0-911E-3DB9CC02B5DF}" dt="2026-05-22T12:50:59.043" v="101"/>
          <ac:picMkLst>
            <pc:docMk/>
            <pc:sldMk cId="0" sldId="263"/>
            <ac:picMk id="36" creationId="{2484D742-42E4-0A59-22C5-461A7146A5DA}"/>
          </ac:picMkLst>
        </pc:picChg>
      </pc:sldChg>
      <pc:sldChg chg="addSp modSp">
        <pc:chgData name="Alexandre da Fonseca" userId="41e5709fee179dac" providerId="LiveId" clId="{5096293C-1326-4AB0-911E-3DB9CC02B5DF}" dt="2026-05-22T12:52:44.446" v="102"/>
        <pc:sldMkLst>
          <pc:docMk/>
          <pc:sldMk cId="0" sldId="264"/>
        </pc:sldMkLst>
        <pc:picChg chg="add mod">
          <ac:chgData name="Alexandre da Fonseca" userId="41e5709fee179dac" providerId="LiveId" clId="{5096293C-1326-4AB0-911E-3DB9CC02B5DF}" dt="2026-05-22T12:52:44.446" v="102"/>
          <ac:picMkLst>
            <pc:docMk/>
            <pc:sldMk cId="0" sldId="264"/>
            <ac:picMk id="9" creationId="{3FEDECF2-B492-78AB-BA3D-C5980B7F93B0}"/>
          </ac:picMkLst>
        </pc:picChg>
      </pc:sldChg>
      <pc:sldChg chg="addSp modSp">
        <pc:chgData name="Alexandre da Fonseca" userId="41e5709fee179dac" providerId="LiveId" clId="{5096293C-1326-4AB0-911E-3DB9CC02B5DF}" dt="2026-05-22T12:53:52.647" v="103"/>
        <pc:sldMkLst>
          <pc:docMk/>
          <pc:sldMk cId="0" sldId="265"/>
        </pc:sldMkLst>
        <pc:picChg chg="add mod">
          <ac:chgData name="Alexandre da Fonseca" userId="41e5709fee179dac" providerId="LiveId" clId="{5096293C-1326-4AB0-911E-3DB9CC02B5DF}" dt="2026-05-22T12:53:52.647" v="103"/>
          <ac:picMkLst>
            <pc:docMk/>
            <pc:sldMk cId="0" sldId="265"/>
            <ac:picMk id="10" creationId="{DC962779-0CAE-2D73-F130-C2A811B0A5D7}"/>
          </ac:picMkLst>
        </pc:picChg>
      </pc:sldChg>
      <pc:sldChg chg="addSp modSp">
        <pc:chgData name="Alexandre da Fonseca" userId="41e5709fee179dac" providerId="LiveId" clId="{5096293C-1326-4AB0-911E-3DB9CC02B5DF}" dt="2026-05-22T12:55:08.203" v="104"/>
        <pc:sldMkLst>
          <pc:docMk/>
          <pc:sldMk cId="0" sldId="266"/>
        </pc:sldMkLst>
        <pc:picChg chg="add mod">
          <ac:chgData name="Alexandre da Fonseca" userId="41e5709fee179dac" providerId="LiveId" clId="{5096293C-1326-4AB0-911E-3DB9CC02B5DF}" dt="2026-05-22T12:55:08.203" v="104"/>
          <ac:picMkLst>
            <pc:docMk/>
            <pc:sldMk cId="0" sldId="266"/>
            <ac:picMk id="8" creationId="{074F6B12-0379-6693-2BFE-807A27E5FCD9}"/>
          </ac:picMkLst>
        </pc:picChg>
      </pc:sldChg>
      <pc:sldChg chg="addSp delSp modSp mod delAnim">
        <pc:chgData name="Alexandre da Fonseca" userId="41e5709fee179dac" providerId="LiveId" clId="{5096293C-1326-4AB0-911E-3DB9CC02B5DF}" dt="2026-05-22T13:31:23.862" v="108" actId="478"/>
        <pc:sldMkLst>
          <pc:docMk/>
          <pc:sldMk cId="0" sldId="267"/>
        </pc:sldMkLst>
        <pc:picChg chg="add del mod">
          <ac:chgData name="Alexandre da Fonseca" userId="41e5709fee179dac" providerId="LiveId" clId="{5096293C-1326-4AB0-911E-3DB9CC02B5DF}" dt="2026-05-22T13:31:23.862" v="108" actId="478"/>
          <ac:picMkLst>
            <pc:docMk/>
            <pc:sldMk cId="0" sldId="267"/>
            <ac:picMk id="17" creationId="{D0FB588F-0833-C1C6-819B-1D680522ADEA}"/>
          </ac:picMkLst>
        </pc:picChg>
      </pc:sldChg>
      <pc:sldChg chg="addSp delSp modSp mod delAnim">
        <pc:chgData name="Alexandre da Fonseca" userId="41e5709fee179dac" providerId="LiveId" clId="{5096293C-1326-4AB0-911E-3DB9CC02B5DF}" dt="2026-05-22T13:31:18.086" v="107" actId="478"/>
        <pc:sldMkLst>
          <pc:docMk/>
          <pc:sldMk cId="0" sldId="268"/>
        </pc:sldMkLst>
        <pc:spChg chg="mod">
          <ac:chgData name="Alexandre da Fonseca" userId="41e5709fee179dac" providerId="LiveId" clId="{5096293C-1326-4AB0-911E-3DB9CC02B5DF}" dt="2026-05-22T12:01:24.645" v="93" actId="255"/>
          <ac:spMkLst>
            <pc:docMk/>
            <pc:sldMk cId="0" sldId="268"/>
            <ac:spMk id="4" creationId="{00000000-0000-0000-0000-000000000000}"/>
          </ac:spMkLst>
        </pc:spChg>
        <pc:picChg chg="add del mod">
          <ac:chgData name="Alexandre da Fonseca" userId="41e5709fee179dac" providerId="LiveId" clId="{5096293C-1326-4AB0-911E-3DB9CC02B5DF}" dt="2026-05-22T13:31:18.086" v="107" actId="478"/>
          <ac:picMkLst>
            <pc:docMk/>
            <pc:sldMk cId="0" sldId="268"/>
            <ac:picMk id="17" creationId="{11F5F7F2-46BD-CF36-4780-E0FAD89981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Expansão do Modelo Preditivo para
Taquiarritmias Ventriculares em Laminopatias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4F0"/>
                </a:solidFill>
              </a:rPr>
              <a:t>Proposta de Inclusão de Fibrose Miocárdica (RMC) e Duração do QRS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0000"/>
            <a:ext cx="10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Alexandre da Fonseca  </a:t>
            </a:r>
            <a:r>
              <a:rPr lang="pt-BR" sz="1600" dirty="0">
                <a:solidFill>
                  <a:srgbClr val="FFFFFF"/>
                </a:solidFill>
              </a:rPr>
              <a:t>RA 1141352423034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378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0"/>
                </a:solidFill>
              </a:rPr>
              <a:t>Disciplina: Aprendizado de Máquina  |  FATEC Jundiaí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8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D6E4F0"/>
                </a:solidFill>
              </a:rPr>
              <a:t>Prof. </a:t>
            </a:r>
            <a:r>
              <a:rPr lang="pt-BR" sz="1200" i="1" dirty="0">
                <a:solidFill>
                  <a:srgbClr val="D6E4F0"/>
                </a:solidFill>
              </a:rPr>
              <a:t>Matheus </a:t>
            </a:r>
            <a:r>
              <a:rPr lang="pt-BR" sz="1200" i="1" dirty="0" err="1">
                <a:solidFill>
                  <a:srgbClr val="D6E4F0"/>
                </a:solidFill>
              </a:rPr>
              <a:t>Fuini</a:t>
            </a:r>
            <a:endParaRPr sz="1200" b="0" i="1" dirty="0">
              <a:solidFill>
                <a:srgbClr val="D6E4F0"/>
              </a:solidFill>
            </a:endParaRPr>
          </a:p>
        </p:txBody>
      </p:sp>
      <p:pic>
        <p:nvPicPr>
          <p:cNvPr id="11" name="Vídeo 10">
            <a:hlinkClick r:id="" action="ppaction://media"/>
            <a:extLst>
              <a:ext uri="{FF2B5EF4-FFF2-40B4-BE49-F238E27FC236}">
                <a16:creationId xmlns:a16="http://schemas.microsoft.com/office/drawing/2014/main" id="{EBF10A9A-5D29-1854-D562-EDA477515F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05"/>
    </mc:Choice>
    <mc:Fallback>
      <p:transition spd="slow" advTm="232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são Laminopatias?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Contexto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Doenças genéticas causadas por mutações no gene LMNA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Gene LMNA codifica as proteínas Lamina A/C — estrutura do núcleo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Afetam principalmente o coração e o músculo esquelético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4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Principal risco cardíaco: Taquiarritmia Ventricular Ameaçadora à Vida (LTVTA)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LTVTA = TV sustentada, FV ou morte súbita cardíaca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Incidência acumulada em 5 anos: ~18% nos portadores de mutação LMNA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231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Prevenção: cardiodesfibrilador implantável (CDI) — mas indicação é difícil de definir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Necessidade de estratificação de risco precisa para decidir quem implanta o CDI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006"/>
    </mc:Choice>
    <mc:Fallback>
      <p:transition spd="slow" advTm="660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Modelo de Wahbi et al. (2019) — Referência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Fine-Gray (risco sub-distribuição) para riscos competidores — LTVTA vs. Óbito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260000"/>
          <a:ext cx="1116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Hazard Ratio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Interpretação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Sexo masculino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143%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Mutação não-missense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154% risco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Bloqueio AV ≥1º grau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187%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TVNS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Binária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↑ 175% risco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FEVE (por 10% 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Contínua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↓ 36%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378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</a:rPr>
              <a:t>C-index: 0,776 (derivação)  ·  0,800 (validação externa)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104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Coorte: 311 pacientes europeus com mutação LMNA confirmada  ·  5 anos de seguimento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034"/>
    </mc:Choice>
    <mc:Fallback>
      <p:transition spd="slow" advTm="6703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Nossa Proposta — Duas Novas 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Hipóteses de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• LGE por Ressonância Magnética Cardíaca (RMC)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LGE = Late Gadolinium Enhancement → detecta fibrose miocárdica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Fibrose = substrato para reentrada e arritmias ventriculares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14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5B9A"/>
                </a:solidFill>
              </a:rPr>
              <a:t>   ◦ Hipótese: HR = 2,0 – 4,0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4047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• Duração do QRS (ECG de superfície)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QRS ≥120 ms indica distúrbio de condução intraventricular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92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Associado a disfunção elétrica e mecânica do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5B9A"/>
                </a:solidFill>
              </a:rPr>
              <a:t>   ◦ Hipótese: HR = 1,10 – 1,30 a cada 10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Objetivo: verificar se as novas variáveis melhoram o poder discriminativo do modelo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262"/>
    </mc:Choice>
    <mc:Fallback>
      <p:transition spd="slow" advTm="6826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Metodologia — Dataset Sintético Parametrizado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5B9A"/>
                </a:solidFill>
              </a:rPr>
              <a:t>Dados Simulados — validados contra literatura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n = 600 pacientes simulados  (numpy.random.seed = 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Parâmetros calibrados a partir da coorte Wahbi et al.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86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Geração de eventos: distribuição Weibull com riscos competidores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14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0000"/>
                </a:solidFill>
              </a:rPr>
              <a:t>   ◦ Evento 1 — LTVTA: 12,8% (77 pacientes)  →  ~18% em 5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Evento 2 — Óbito competidor: 9,5%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Censura administrativa: 77,7%  ·  5% perda aleatória de seguimento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231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Calibração automática da taxa base (scipy.optimize.brentq) para atingir 18% em 5 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Coeficientes de simulação derivados de ln(HR) da literatura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Tempo médio de seguimento: 4,33 ± 1,3 anos</a:t>
            </a:r>
          </a:p>
        </p:txBody>
      </p:sp>
      <p:pic>
        <p:nvPicPr>
          <p:cNvPr id="16" name="Vídeo 15">
            <a:hlinkClick r:id="" action="ppaction://media"/>
            <a:extLst>
              <a:ext uri="{FF2B5EF4-FFF2-40B4-BE49-F238E27FC236}">
                <a16:creationId xmlns:a16="http://schemas.microsoft.com/office/drawing/2014/main" id="{080B6070-B4E9-AD9C-DC1F-020BD15551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508"/>
    </mc:Choice>
    <mc:Fallback>
      <p:transition spd="slow" advTm="665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Análise Exploratória — Prevalências vs. Literatura</a:t>
            </a:r>
          </a:p>
        </p:txBody>
      </p:sp>
      <p:pic>
        <p:nvPicPr>
          <p:cNvPr id="4" name="Picture 3" descr="fig2_prevalenc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827999"/>
            <a:ext cx="11160000" cy="5580000"/>
          </a:xfrm>
          <a:prstGeom prst="rect">
            <a:avLst/>
          </a:prstGeom>
        </p:spPr>
      </p:pic>
      <p:pic>
        <p:nvPicPr>
          <p:cNvPr id="7" name="Vídeo 6">
            <a:hlinkClick r:id="" action="ppaction://media"/>
            <a:extLst>
              <a:ext uri="{FF2B5EF4-FFF2-40B4-BE49-F238E27FC236}">
                <a16:creationId xmlns:a16="http://schemas.microsoft.com/office/drawing/2014/main" id="{72DD42C5-5AB8-60AF-0C85-09F379BB1C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40"/>
    </mc:Choice>
    <mc:Fallback>
      <p:transition spd="slow" advTm="37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Modelo de ML — Cox com Riscos Competidores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• Abordagem: Regressão de Cox causa-específica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126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Biblioteca: scikit-survival (Python)  ·  CoxPHSurvivalAnalysis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52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Modelagem separada para cada causa de evento (LTVTA / Óbito)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78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Por que não Fine-Gray exato?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04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Fine-Gray exato requer pacote cmprsk do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303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Cox causa-específica é metodologicamente válido para comparação relativa de C-index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56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Mesma população → comparação justa entre Modelo Original e Expandido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22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Avaliação de desempenho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081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C-index de Harrell (discriminação): capacidade de ordenar pacientes por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334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NRI (Net Reclassification Index): melhora de classificação com limiar de 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599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Análise de sensibilidade: variar HR_LGE ∈ [2,0;4,0] e HR_QRS ∈ [1,10;1,30]</a:t>
            </a:r>
          </a:p>
        </p:txBody>
      </p:sp>
      <p:pic>
        <p:nvPicPr>
          <p:cNvPr id="17" name="Vídeo 16">
            <a:hlinkClick r:id="" action="ppaction://media"/>
            <a:extLst>
              <a:ext uri="{FF2B5EF4-FFF2-40B4-BE49-F238E27FC236}">
                <a16:creationId xmlns:a16="http://schemas.microsoft.com/office/drawing/2014/main" id="{18A35CEB-6B2B-8B0A-0138-FA7C893EB2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726"/>
    </mc:Choice>
    <mc:Fallback>
      <p:transition spd="slow" advTm="74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Fine-Gray vs. Cox Causa-Específica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86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Cox Causa-Específica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152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Modela a taxa condicional de LTVTA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339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dado que o paciente ainda está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5264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00" y="17136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Competing events → censurados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9008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(saem do conjunto de risco)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88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00" y="2275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Pergunta respondida: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4624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"Quais fatores aumentam a TAXA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26496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 de LTVTA entre os ainda vivos?"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28368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00" y="3024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Melhor para inferência etiológica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3211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Disponível no scikit-survival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864000"/>
            <a:ext cx="18000" cy="396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0" y="864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Fine-Gray (Subdistribution Hazard)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152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Modela diretamente a probabilidade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1339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acumulada real de LTVTA — CIF F(t)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15264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0000" y="17136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Competing events → ficam no risco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19008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com peso → 0  ("pacientes mortos-vivos")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2088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0000" y="2275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Pergunta respondida: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24624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"Qual a CHANCE REAL de LTVTA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26496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   em 5 anos, considerando morte?"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28368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000" y="30240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Melhor para predição absoluta de risco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3211200"/>
            <a:ext cx="55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Requer cmprsk (R) — não disponível em Python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000" y="5040000"/>
            <a:ext cx="11700000" cy="1620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0000" y="5112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Por que Cox causa-específica é válido neste estudo?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5400000"/>
            <a:ext cx="1134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Objetivo = COMPARAR dois modelos na mesma população, não estimar risco absoluto.
O C-index mede apenas a capacidade de ORDENAR pacientes por risco — e essa ordenação
é equivalente entre Cox e Fine-Gray na mesma coorte. A escolha não altera a conclusão.</a:t>
            </a:r>
          </a:p>
        </p:txBody>
      </p:sp>
      <p:pic>
        <p:nvPicPr>
          <p:cNvPr id="36" name="Vídeo 35">
            <a:hlinkClick r:id="" action="ppaction://media"/>
            <a:extLst>
              <a:ext uri="{FF2B5EF4-FFF2-40B4-BE49-F238E27FC236}">
                <a16:creationId xmlns:a16="http://schemas.microsoft.com/office/drawing/2014/main" id="{2484D742-42E4-0A59-22C5-461A7146A5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316"/>
    </mc:Choice>
    <mc:Fallback>
      <p:transition spd="slow" advTm="87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 — Hazard Ratios Estimados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00000"/>
          <a:ext cx="792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Wahbi (ref.)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Modelo Orig.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HR Modelo Exp.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Sexo masculino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Mutação não-missense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2,48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Bloqueio 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3,32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TVNS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2,75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2,63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FEVE (por 10% 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LGE presente [NOVO]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2,26 ✓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QRS / 10 ms [NOVO]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1,23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 descr="fig6_torn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00" y="900000"/>
            <a:ext cx="3600000" cy="37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4068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000"/>
                </a:solidFill>
              </a:rPr>
              <a:t>✓ Ambas as hipóteses confirmadas nas faixas esperadas</a:t>
            </a:r>
          </a:p>
        </p:txBody>
      </p:sp>
      <p:pic>
        <p:nvPicPr>
          <p:cNvPr id="9" name="Vídeo 8">
            <a:hlinkClick r:id="" action="ppaction://media"/>
            <a:extLst>
              <a:ext uri="{FF2B5EF4-FFF2-40B4-BE49-F238E27FC236}">
                <a16:creationId xmlns:a16="http://schemas.microsoft.com/office/drawing/2014/main" id="{3FEDECF2-B492-78AB-BA3D-C5980B7F93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158"/>
    </mc:Choice>
    <mc:Fallback>
      <p:transition spd="slow" advTm="721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 — Desempenho Discriminativo (C-index)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Modelo Original (5 var.)     C-index = 0,768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8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Modelo Expandido (7 var.)   C-index = 0,794   (+0,026)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75999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NRI Total: +2,6%  (limiar 7% de risco em 5 anos)</a:t>
            </a:r>
          </a:p>
        </p:txBody>
      </p:sp>
      <p:pic>
        <p:nvPicPr>
          <p:cNvPr id="7" name="Picture 6" descr="fig4_desempen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0"/>
            <a:ext cx="11520000" cy="4500000"/>
          </a:xfrm>
          <a:prstGeom prst="rect">
            <a:avLst/>
          </a:prstGeom>
        </p:spPr>
      </p:pic>
      <p:pic>
        <p:nvPicPr>
          <p:cNvPr id="10" name="Vídeo 9">
            <a:hlinkClick r:id="" action="ppaction://media"/>
            <a:extLst>
              <a:ext uri="{FF2B5EF4-FFF2-40B4-BE49-F238E27FC236}">
                <a16:creationId xmlns:a16="http://schemas.microsoft.com/office/drawing/2014/main" id="{DC962779-0CAE-2D73-F130-C2A811B0A5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73"/>
    </mc:Choice>
    <mc:Fallback>
      <p:transition spd="slow" advTm="45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Análise de Sensibilidade — Robustez do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B9A"/>
                </a:solidFill>
              </a:rPr>
              <a:t>C-index do Modelo Expandido permanece acima do Original em TODA a faixa de HR testada</a:t>
            </a:r>
          </a:p>
        </p:txBody>
      </p:sp>
      <p:pic>
        <p:nvPicPr>
          <p:cNvPr id="5" name="Picture 4" descr="fig5_sensibi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224000"/>
            <a:ext cx="11520000" cy="4860000"/>
          </a:xfrm>
          <a:prstGeom prst="rect">
            <a:avLst/>
          </a:prstGeom>
        </p:spPr>
      </p:pic>
      <p:pic>
        <p:nvPicPr>
          <p:cNvPr id="8" name="Vídeo 7">
            <a:hlinkClick r:id="" action="ppaction://media"/>
            <a:extLst>
              <a:ext uri="{FF2B5EF4-FFF2-40B4-BE49-F238E27FC236}">
                <a16:creationId xmlns:a16="http://schemas.microsoft.com/office/drawing/2014/main" id="{074F6B12-0379-6693-2BFE-807A27E5FC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3892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983"/>
    </mc:Choice>
    <mc:Fallback>
      <p:transition spd="slow" advTm="469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Limitações do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• Dados sintéticos — não substituem coorte clínica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0" y="126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Gerados a partir de parâmetros da literatura, não pacientes reais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263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</a:rPr>
              <a:t>• n = 77 eventos (LTVTA) — poder amostral limitado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7855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Hipótese de C-index &gt; 0,82 não confirmada (obtido: 0,794)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04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Hipótese de NRI ≥ 10% não confirmada (obtido: +2,6%)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303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Implementação Cox causa-específica vs. Fine-Gray exato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56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Fine-Gray exato exigiria o pacote cmprsk do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82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Diferença metodológica não invalida comparação relativa entre modelos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08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Próximos passos para validação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334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Aplicar a coorte clínica prospectiva com dados de RMC e ECG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5999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Validação externa independente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232"/>
    </mc:Choice>
    <mc:Fallback>
      <p:transition spd="slow" advTm="5323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Conclusões e Implicações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5900039"/>
            <a:ext cx="111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005B9A"/>
                </a:solidFill>
              </a:rPr>
              <a:t>Obrigado</a:t>
            </a:r>
            <a:r>
              <a:rPr sz="1400" b="0" i="1" dirty="0">
                <a:solidFill>
                  <a:srgbClr val="005B9A"/>
                </a:solidFill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367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LGE (fibrose por RMC) e QRS se confirmam como preditores relevantes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627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HR LGE = 2,26 ✓  (hipótese: 2,0–4,0)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886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HR QRS = 1,23/10ms ✓  (hipótese: 1,10–1,30)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45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00"/>
                </a:solidFill>
              </a:rPr>
              <a:t>• Melhora consistente do C-index: 0,768 → 0,794  (+3,4%)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04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Confirmado em 100% dos cenários da análise de sensibilidade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663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• Implicação clínica direta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9231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   ◦ RMC deveria ser incluída nos protocolos de estratificação de LTVTA em laminopatias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31823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QRS ≥120 ms é marcador de risco incremental de baixo 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415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</a:rPr>
              <a:t>• </a:t>
            </a:r>
            <a:r>
              <a:rPr sz="1600" b="0" i="0" dirty="0" err="1">
                <a:solidFill>
                  <a:srgbClr val="333333"/>
                </a:solidFill>
              </a:rPr>
              <a:t>Análise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computacional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disponível</a:t>
            </a:r>
            <a:r>
              <a:rPr sz="1600" b="0" i="0" dirty="0">
                <a:solidFill>
                  <a:srgbClr val="333333"/>
                </a:solidFill>
              </a:rPr>
              <a:t> no Google </a:t>
            </a:r>
            <a:r>
              <a:rPr sz="1600" b="0" i="0" dirty="0" err="1">
                <a:solidFill>
                  <a:srgbClr val="333333"/>
                </a:solidFill>
              </a:rPr>
              <a:t>Colab</a:t>
            </a:r>
            <a:r>
              <a:rPr sz="1600" b="0" i="0" dirty="0">
                <a:solidFill>
                  <a:srgbClr val="333333"/>
                </a:solidFill>
              </a:rPr>
              <a:t> (link no </a:t>
            </a:r>
            <a:r>
              <a:rPr sz="1600" b="0" i="0" dirty="0" err="1">
                <a:solidFill>
                  <a:srgbClr val="333333"/>
                </a:solidFill>
              </a:rPr>
              <a:t>artigo</a:t>
            </a:r>
            <a:r>
              <a:rPr sz="1600" b="0" i="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700799"/>
            <a:ext cx="10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 ◦ Reprodutível: seed=42, sem dados de pacientes reais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595"/>
    </mc:Choice>
    <mc:Fallback>
      <p:transition spd="slow" advTm="7559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1220</Words>
  <Application>Microsoft Office PowerPoint</Application>
  <PresentationFormat>Personalizar</PresentationFormat>
  <Paragraphs>165</Paragraphs>
  <Slides>13</Slides>
  <Notes>0</Notes>
  <HiddenSlides>0</HiddenSlides>
  <MMClips>8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Alexandre da Fonseca</cp:lastModifiedBy>
  <cp:revision>1</cp:revision>
  <dcterms:created xsi:type="dcterms:W3CDTF">2013-01-27T09:14:16Z</dcterms:created>
  <dcterms:modified xsi:type="dcterms:W3CDTF">2026-05-22T15:34:09Z</dcterms:modified>
  <cp:category/>
</cp:coreProperties>
</file>