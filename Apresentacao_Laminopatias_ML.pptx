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da Fonseca" userId="41e5709fee179dac" providerId="LiveId" clId="{5096293C-1326-4AB0-911E-3DB9CC02B5DF}"/>
    <pc:docChg chg="undo custSel modSld">
      <pc:chgData name="Alexandre da Fonseca" userId="41e5709fee179dac" providerId="LiveId" clId="{5096293C-1326-4AB0-911E-3DB9CC02B5DF}" dt="2026-05-22T02:04:03.941" v="106" actId="1076"/>
      <pc:docMkLst>
        <pc:docMk/>
      </pc:docMkLst>
      <pc:sldChg chg="modSp mod">
        <pc:chgData name="Alexandre da Fonseca" userId="41e5709fee179dac" providerId="LiveId" clId="{5096293C-1326-4AB0-911E-3DB9CC02B5DF}" dt="2026-05-22T01:46:26.153" v="105" actId="20577"/>
        <pc:sldMkLst>
          <pc:docMk/>
          <pc:sldMk cId="0" sldId="256"/>
        </pc:sldMkLst>
        <pc:spChg chg="mod">
          <ac:chgData name="Alexandre da Fonseca" userId="41e5709fee179dac" providerId="LiveId" clId="{5096293C-1326-4AB0-911E-3DB9CC02B5DF}" dt="2026-05-22T01:46:05.692" v="45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exandre da Fonseca" userId="41e5709fee179dac" providerId="LiveId" clId="{5096293C-1326-4AB0-911E-3DB9CC02B5DF}" dt="2026-05-22T01:46:26.153" v="105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Alexandre da Fonseca" userId="41e5709fee179dac" providerId="LiveId" clId="{5096293C-1326-4AB0-911E-3DB9CC02B5DF}" dt="2026-05-22T02:04:03.941" v="106" actId="1076"/>
        <pc:sldMkLst>
          <pc:docMk/>
          <pc:sldMk cId="0" sldId="267"/>
        </pc:sldMkLst>
        <pc:spChg chg="mod">
          <ac:chgData name="Alexandre da Fonseca" userId="41e5709fee179dac" providerId="LiveId" clId="{5096293C-1326-4AB0-911E-3DB9CC02B5DF}" dt="2026-05-22T02:04:03.941" v="106" actId="1076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Expansão do Modelo Preditivo para
Taquiarritmias Ventriculares em Laminopatias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0"/>
                </a:solidFill>
              </a:rPr>
              <a:t>Proposta de Inclusão de Fibrose Miocárdica (RMC) e Duração do QRS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0000"/>
            <a:ext cx="10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Alexandre da Fonseca </a:t>
            </a:r>
            <a:r>
              <a:rPr lang="pt-BR" sz="1600" b="0" i="0" dirty="0">
                <a:solidFill>
                  <a:srgbClr val="FFFFFF"/>
                </a:solidFill>
              </a:rPr>
              <a:t>RA1141352423034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78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0"/>
                </a:solidFill>
              </a:rPr>
              <a:t>Disciplina: Aprendizado de Máquina  |  FATEC Jundiaí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8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i="1" dirty="0">
                <a:solidFill>
                  <a:srgbClr val="D6E4F0"/>
                </a:solidFill>
              </a:rPr>
              <a:t>Prof. Matheus </a:t>
            </a:r>
            <a:r>
              <a:rPr lang="pt-BR" sz="1200" i="1" dirty="0" err="1">
                <a:solidFill>
                  <a:srgbClr val="D6E4F0"/>
                </a:solidFill>
              </a:rPr>
              <a:t>Fuini</a:t>
            </a:r>
            <a:endParaRPr sz="1200" b="0" i="1" dirty="0">
              <a:solidFill>
                <a:srgbClr val="D6E4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são Laminopatias?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Contexto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Doenças genéticas causadas por mutações no gene LMNA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Gene LMNA codifica as proteínas Lamina A/C — estrutura do núcleo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Afetam principalmente o coração e o músculo esquelético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4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Principal risco cardíaco: Taquiarritmia Ventricular Ameaçadora à Vida (LTVTA)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LTVTA = TV sustentada, FV ou morte súbita cardíaca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Incidência acumulada em 5 anos: ~18% nos portadores de mutação LMNA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231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Prevenção: cardiodesfibrilador implantável (CDI) — mas indicação é difícil de definir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Necessidade de estratificação de risco precisa para decidir quem implanta o CDI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Modelo de Wahbi et al. (2019) — Referência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Fine-Gray (risco sub-distribuição) para riscos competidores — LTVTA vs. Óbito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260000"/>
          <a:ext cx="1116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Hazard Ratio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Interpretação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Sexo masculino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143%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Mutação não-missense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154% risco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Bloqueio AV ≥1º grau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187%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TVNS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175% risco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FEVE (por 10% 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Contínua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↓ 36%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378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</a:rPr>
              <a:t>C-index: 0,776 (derivação)  ·  0,800 (validação externa)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104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Coorte: 311 pacientes europeus com mutação LMNA confirmada  ·  5 anos de seguimento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Nossa Proposta — Duas Novas 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Hipóteses de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• LGE por Ressonância Magnética Cardíaca (RMC)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LGE = Late Gadolinium Enhancement → detecta fibrose miocárdica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Fibrose = substrato para reentrada e arritmias ventriculares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14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5B9A"/>
                </a:solidFill>
              </a:rPr>
              <a:t>   ◦ Hipótese: HR = 2,0 – 4,0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4047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• Duração do QRS (ECG de superfície)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QRS ≥120 ms indica distúrbio de condução intraventricular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92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Associado a disfunção elétrica e mecânica do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5B9A"/>
                </a:solidFill>
              </a:rPr>
              <a:t>   ◦ Hipótese: HR = 1,10 – 1,30 a cada 10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Objetivo: verificar se as novas variáveis melhoram o poder discriminativo do modelo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Metodologia — Dataset Sintético Parametrizado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Dados Simulados — validados contra literatura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n = 600 pacientes simulados  (numpy.random.seed = 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Parâmetros calibrados a partir da coorte Wahbi et al.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86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Geração de eventos: distribuição Weibull com riscos competidores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14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0000"/>
                </a:solidFill>
              </a:rPr>
              <a:t>   ◦ Evento 1 — LTVTA: 12,8% (77 pacientes)  →  ~18% em 5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Evento 2 — Óbito competidor: 9,5%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Censura administrativa: 77,7%  ·  5% perda aleatória de seguimento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231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Calibração automática da taxa base (scipy.optimize.brentq) para atingir 18% em 5 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Coeficientes de simulação derivados de ln(HR) da literatura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Tempo médio de seguimento: 4,33 ± 1,3 anos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Análise Exploratória — Prevalências vs. Literatura</a:t>
            </a:r>
          </a:p>
        </p:txBody>
      </p:sp>
      <p:pic>
        <p:nvPicPr>
          <p:cNvPr id="4" name="Picture 3" descr="fig2_preval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11160000" cy="55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Modelo de ML — Cox com Riscos Competidores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Abordagem: Regressão de Cox causa-específica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126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Biblioteca: scikit-survival (Python)  ·  CoxPHSurvivalAnalysis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52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Modelagem separada para cada causa de evento (LTVTA / Óbito)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78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Por que não Fine-Gray exato?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04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Fine-Gray exato requer pacote cmprsk do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30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Cox causa-específica é metodologicamente válido para comparação relativa de C-index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56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Mesma população → comparação justa entre Modelo Original e Expandido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22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Avaliação de desempenho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081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C-index de Harrell (discriminação): capacidade de ordenar pacientes por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334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NRI (Net Reclassification Index): melhora de classificação com limiar de 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599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Análise de sensibilidade: variar HR_LGE ∈ [2,0;4,0] e HR_QRS ∈ [1,10;1,30]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 — Hazard Ratios Estimados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00000"/>
          <a:ext cx="792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Wahbi (ref.)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Modelo Orig.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Modelo Exp.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Sexo masculino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Mutação não-missense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Bloqueio 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3,32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TVNS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2,63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FEVE (por 10% 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LGE presente [NOVO]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2,26 ✓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QRS / 10 ms [NOVO]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1,23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 descr="fig6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000" y="900000"/>
            <a:ext cx="3600000" cy="37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4068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000"/>
                </a:solidFill>
              </a:rPr>
              <a:t>✓ Ambas as hipóteses confirmadas nas faixas esperadas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 — Desempenho Discriminativo (C-index)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Modelo Original (5 var.)     C-index = 0,768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8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Modelo Expandido (7 var.)   C-index = 0,794   (+0,026)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75999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NRI Total: +2,6%  (limiar 7% de risco em 5 anos)</a:t>
            </a:r>
          </a:p>
        </p:txBody>
      </p:sp>
      <p:pic>
        <p:nvPicPr>
          <p:cNvPr id="7" name="Picture 6" descr="fig4_desempe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800000"/>
            <a:ext cx="1152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Análise de Sensibilidade — Robustez do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A"/>
                </a:solidFill>
              </a:rPr>
              <a:t>C-index do Modelo Expandido permanece acima do Original em TODA a faixa de HR testada</a:t>
            </a:r>
          </a:p>
        </p:txBody>
      </p:sp>
      <p:pic>
        <p:nvPicPr>
          <p:cNvPr id="5" name="Picture 4" descr="fig5_sensi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24000"/>
            <a:ext cx="11520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Limitações do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• Dados sintéticos — não substituem coorte clínica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126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Gerados a partir de parâmetros da literatura, não pacientes reais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26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• n = 77 eventos (LTVTA) — poder amostral limitado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78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Hipótese de C-index &gt; 0,82 não confirmada (obtido: 0,794)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04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Hipótese de NRI ≥ 10% não confirmada (obtido: +2,6%)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303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</a:rPr>
              <a:t>• </a:t>
            </a:r>
            <a:r>
              <a:rPr sz="1600" b="0" i="0" dirty="0" err="1">
                <a:solidFill>
                  <a:srgbClr val="333333"/>
                </a:solidFill>
              </a:rPr>
              <a:t>Implementação</a:t>
            </a:r>
            <a:r>
              <a:rPr sz="1600" b="0" i="0" dirty="0">
                <a:solidFill>
                  <a:srgbClr val="333333"/>
                </a:solidFill>
              </a:rPr>
              <a:t> Cox causa-</a:t>
            </a:r>
            <a:r>
              <a:rPr sz="1600" b="0" i="0" dirty="0" err="1">
                <a:solidFill>
                  <a:srgbClr val="333333"/>
                </a:solidFill>
              </a:rPr>
              <a:t>específica</a:t>
            </a:r>
            <a:r>
              <a:rPr sz="1600" b="0" i="0" dirty="0">
                <a:solidFill>
                  <a:srgbClr val="333333"/>
                </a:solidFill>
              </a:rPr>
              <a:t> vs. Fine-Gray </a:t>
            </a:r>
            <a:r>
              <a:rPr sz="1600" b="0" i="0" dirty="0" err="1">
                <a:solidFill>
                  <a:srgbClr val="333333"/>
                </a:solidFill>
              </a:rPr>
              <a:t>exato</a:t>
            </a:r>
            <a:endParaRPr sz="1600" b="0" i="0" dirty="0">
              <a:solidFill>
                <a:srgbClr val="33333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8000" y="256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Fine-Gray exato exigiria o pacote cmprsk do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82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Diferença metodológica não invalida comparação relativa entre modelos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08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Próximos passos para validação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334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Aplicar a coorte clínica prospectiva com dados de RMC e ECG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599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Validação externa independente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Conclusões e Implicações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942801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LGE (fibrose por RMC) e QRS se confirmam como preditores relevantes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HR LGE = 2,26 ✓  (hipótese: 2,0–4,0)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HR QRS = 1,23/10ms ✓  (hipótese: 1,10–1,30)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4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Melhora consistente do C-index: 0,768 → 0,794  (+3,4%)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Confirmado em 100% dos cenários da análise de sensibilidade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663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Implicação clínica direta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92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   ◦ RMC deveria ser incluída nos protocolos de estratificação de LTVTA em laminopatias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QRS ≥120 ms é marcador de risco incremental de baixo 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</a:rPr>
              <a:t>• </a:t>
            </a:r>
            <a:r>
              <a:rPr sz="1600" b="0" i="0" dirty="0" err="1">
                <a:solidFill>
                  <a:srgbClr val="333333"/>
                </a:solidFill>
              </a:rPr>
              <a:t>Análise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computacional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disponível</a:t>
            </a:r>
            <a:r>
              <a:rPr sz="1600" b="0" i="0" dirty="0">
                <a:solidFill>
                  <a:srgbClr val="333333"/>
                </a:solidFill>
              </a:rPr>
              <a:t> no Google </a:t>
            </a:r>
            <a:r>
              <a:rPr sz="1600" b="0" i="0" dirty="0" err="1">
                <a:solidFill>
                  <a:srgbClr val="333333"/>
                </a:solidFill>
              </a:rPr>
              <a:t>Colab</a:t>
            </a:r>
            <a:r>
              <a:rPr sz="1600" b="0" i="0" dirty="0">
                <a:solidFill>
                  <a:srgbClr val="333333"/>
                </a:solidFill>
              </a:rPr>
              <a:t> (link no </a:t>
            </a:r>
            <a:r>
              <a:rPr sz="1600" b="0" i="0" dirty="0" err="1">
                <a:solidFill>
                  <a:srgbClr val="333333"/>
                </a:solidFill>
              </a:rPr>
              <a:t>artigo</a:t>
            </a:r>
            <a:r>
              <a:rPr sz="1600" b="0" i="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70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Reprodutível: seed=42, sem dados de pacientes reais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1027</Words>
  <Application>Microsoft Office PowerPoint</Application>
  <PresentationFormat>Personalizar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Alexandre da Fonseca</cp:lastModifiedBy>
  <cp:revision>1</cp:revision>
  <dcterms:created xsi:type="dcterms:W3CDTF">2013-01-27T09:14:16Z</dcterms:created>
  <dcterms:modified xsi:type="dcterms:W3CDTF">2026-05-22T02:06:25Z</dcterms:modified>
  <cp:category/>
</cp:coreProperties>
</file>